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media/image-1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2766488" cy="30239208"/>
  <p:notesSz cx="30239208" cy="427664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Arial"/>
              </a:rPr>
              <a:t>RGB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E57373"/>
            </a:solidFill>
            <a:ln w="25400" cap="flat">
              <a:solidFill>
                <a:srgbClr val="E5737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57373"/>
              </a:solidFill>
              <a:ln w="9525" cap="flat">
                <a:solidFill>
                  <a:srgbClr val="E57373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0.7131122958794865</c:v>
                </c:pt>
                <c:pt idx="1">
                  <c:v>0.6298013586398039</c:v>
                </c:pt>
                <c:pt idx="2">
                  <c:v>0.6107145034082584</c:v>
                </c:pt>
                <c:pt idx="3">
                  <c:v>0.6018807290566244</c:v>
                </c:pt>
                <c:pt idx="4">
                  <c:v>0.5907195656871171</c:v>
                </c:pt>
                <c:pt idx="5">
                  <c:v>0.5747166356821984</c:v>
                </c:pt>
                <c:pt idx="6">
                  <c:v>0.5617352598377241</c:v>
                </c:pt>
                <c:pt idx="7">
                  <c:v>0.5522425049724216</c:v>
                </c:pt>
                <c:pt idx="8">
                  <c:v>0.5299414638640411</c:v>
                </c:pt>
                <c:pt idx="9">
                  <c:v>0.5250442004643474</c:v>
                </c:pt>
                <c:pt idx="10">
                  <c:v>0.5206698197328499</c:v>
                </c:pt>
                <c:pt idx="11">
                  <c:v>0.5119207905453631</c:v>
                </c:pt>
                <c:pt idx="12">
                  <c:v>0.4509953427960091</c:v>
                </c:pt>
                <c:pt idx="13">
                  <c:v>0.33100673238204426</c:v>
                </c:pt>
                <c:pt idx="14">
                  <c:v>0.24823288770380347</c:v>
                </c:pt>
                <c:pt idx="15">
                  <c:v>0.21923550816971957</c:v>
                </c:pt>
                <c:pt idx="16">
                  <c:v>0.1943245231070606</c:v>
                </c:pt>
                <c:pt idx="17">
                  <c:v>0.18544329840031712</c:v>
                </c:pt>
                <c:pt idx="18">
                  <c:v>0.17838737131154594</c:v>
                </c:pt>
                <c:pt idx="19">
                  <c:v>0.15857151831902735</c:v>
                </c:pt>
                <c:pt idx="20">
                  <c:v>0.16328424794879476</c:v>
                </c:pt>
                <c:pt idx="21">
                  <c:v>0.14981447624935726</c:v>
                </c:pt>
                <c:pt idx="22">
                  <c:v>0.13884069606034913</c:v>
                </c:pt>
                <c:pt idx="23">
                  <c:v>0.1362881456389037</c:v>
                </c:pt>
                <c:pt idx="24">
                  <c:v>0.13037981687312816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</c:v>
                </c:pt>
              </c:strCache>
            </c:strRef>
          </c:tx>
          <c:spPr>
            <a:solidFill>
              <a:srgbClr val="888888"/>
            </a:solidFill>
            <a:ln w="25400" cap="flat">
              <a:solidFill>
                <a:srgbClr val="8888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88888"/>
              </a:solidFill>
              <a:ln w="9525" cap="flat">
                <a:solidFill>
                  <a:srgbClr val="888888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0.6447884746272154</c:v>
                </c:pt>
                <c:pt idx="1">
                  <c:v>0.6440097632432225</c:v>
                </c:pt>
                <c:pt idx="2">
                  <c:v>0.6494576545074733</c:v>
                </c:pt>
                <c:pt idx="3">
                  <c:v>0.6377489098996827</c:v>
                </c:pt>
                <c:pt idx="4">
                  <c:v>0.6476496703094906</c:v>
                </c:pt>
                <c:pt idx="5">
                  <c:v>0.6676246547939801</c:v>
                </c:pt>
                <c:pt idx="6">
                  <c:v>0.6328027349529844</c:v>
                </c:pt>
                <c:pt idx="7">
                  <c:v>0.6529013446485153</c:v>
                </c:pt>
                <c:pt idx="8">
                  <c:v>0.6287349587137049</c:v>
                </c:pt>
                <c:pt idx="9">
                  <c:v>0.6856425695949131</c:v>
                </c:pt>
                <c:pt idx="10">
                  <c:v>0.6657709232484451</c:v>
                </c:pt>
                <c:pt idx="11">
                  <c:v>0.6416196805058103</c:v>
                </c:pt>
                <c:pt idx="12">
                  <c:v>0.5288712398873435</c:v>
                </c:pt>
                <c:pt idx="13">
                  <c:v>0.803873710389804</c:v>
                </c:pt>
                <c:pt idx="14">
                  <c:v>0.7223091111302957</c:v>
                </c:pt>
                <c:pt idx="15">
                  <c:v>0.5373965756150992</c:v>
                </c:pt>
                <c:pt idx="16">
                  <c:v>0.6722878413307589</c:v>
                </c:pt>
                <c:pt idx="17">
                  <c:v>0.8402428486449016</c:v>
                </c:pt>
                <c:pt idx="18">
                  <c:v>0.5364891306271933</c:v>
                </c:pt>
                <c:pt idx="19">
                  <c:v>0.7019095726314735</c:v>
                </c:pt>
                <c:pt idx="20">
                  <c:v>0.6937437509088965</c:v>
                </c:pt>
                <c:pt idx="21">
                  <c:v>0.8549772685267721</c:v>
                </c:pt>
                <c:pt idx="22">
                  <c:v>0.7121892117996755</c:v>
                </c:pt>
                <c:pt idx="23">
                  <c:v>0.6043322367691449</c:v>
                </c:pt>
                <c:pt idx="24">
                  <c:v>0.7237688235279046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Arial"/>
              </a:rPr>
              <a:t>RGB + DTM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42A5F5"/>
            </a:solidFill>
            <a:ln w="25400" cap="flat">
              <a:solidFill>
                <a:srgbClr val="42A5F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42A5F5"/>
              </a:solidFill>
              <a:ln w="9525" cap="flat">
                <a:solidFill>
                  <a:srgbClr val="42A5F5"/>
                </a:solidFill>
                <a:prstDash val="solid"/>
                <a:round/>
              </a:ln>
              <a:effectLst/>
            </c:spPr>
          </c:marker>
          <c:cat>
            <c:strRef>
              <c:f>Sheet1!$A$2:$A$27</c:f>
              <c:strCache>
                <c:ptCount val="2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0.7590519866370361</c:v>
                </c:pt>
                <c:pt idx="1">
                  <c:v>0.6716862982366143</c:v>
                </c:pt>
                <c:pt idx="2">
                  <c:v>0.6405396660228062</c:v>
                </c:pt>
                <c:pt idx="3">
                  <c:v>0.6258775186389773</c:v>
                </c:pt>
                <c:pt idx="4">
                  <c:v>0.6054324236992638</c:v>
                </c:pt>
                <c:pt idx="5">
                  <c:v>0.5852474948432317</c:v>
                </c:pt>
                <c:pt idx="6">
                  <c:v>0.5719685397426122</c:v>
                </c:pt>
                <c:pt idx="7">
                  <c:v>0.559595369675697</c:v>
                </c:pt>
                <c:pt idx="8">
                  <c:v>0.5511809337678089</c:v>
                </c:pt>
                <c:pt idx="9">
                  <c:v>0.5457582214380715</c:v>
                </c:pt>
                <c:pt idx="10">
                  <c:v>0.5333534825209845</c:v>
                </c:pt>
                <c:pt idx="11">
                  <c:v>0.530439733111525</c:v>
                </c:pt>
                <c:pt idx="12">
                  <c:v>0.5241033297823271</c:v>
                </c:pt>
                <c:pt idx="13">
                  <c:v>0.5040970203654529</c:v>
                </c:pt>
                <c:pt idx="14">
                  <c:v>0.39331626447260043</c:v>
                </c:pt>
                <c:pt idx="15">
                  <c:v>0.27440228162207053</c:v>
                </c:pt>
                <c:pt idx="16">
                  <c:v>0.22166575661293636</c:v>
                </c:pt>
                <c:pt idx="17">
                  <c:v>0.2118567515000898</c:v>
                </c:pt>
                <c:pt idx="18">
                  <c:v>0.1983696106582512</c:v>
                </c:pt>
                <c:pt idx="19">
                  <c:v>0.18769289642232506</c:v>
                </c:pt>
                <c:pt idx="20">
                  <c:v>0.15552580333560687</c:v>
                </c:pt>
                <c:pt idx="21">
                  <c:v>0.15120095926991944</c:v>
                </c:pt>
                <c:pt idx="22">
                  <c:v>0.13551735248084107</c:v>
                </c:pt>
                <c:pt idx="23">
                  <c:v>0.13312302983679256</c:v>
                </c:pt>
                <c:pt idx="24">
                  <c:v>0.12495550930222739</c:v>
                </c:pt>
                <c:pt idx="25">
                  <c:v>0.1323844160013443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</c:v>
                </c:pt>
              </c:strCache>
            </c:strRef>
          </c:tx>
          <c:spPr>
            <a:solidFill>
              <a:srgbClr val="888888"/>
            </a:solidFill>
            <a:ln w="25400" cap="flat">
              <a:solidFill>
                <a:srgbClr val="8888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88888"/>
              </a:solidFill>
              <a:ln w="9525" cap="flat">
                <a:solidFill>
                  <a:srgbClr val="888888"/>
                </a:solidFill>
                <a:prstDash val="solid"/>
                <a:round/>
              </a:ln>
              <a:effectLst/>
            </c:spPr>
          </c:marker>
          <c:cat>
            <c:strRef>
              <c:f>Sheet1!$A$2:$A$27</c:f>
              <c:strCache>
                <c:ptCount val="2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0.7241976733761605</c:v>
                </c:pt>
                <c:pt idx="1">
                  <c:v>0.6850392628197718</c:v>
                </c:pt>
                <c:pt idx="2">
                  <c:v>0.6959452468939502</c:v>
                </c:pt>
                <c:pt idx="3">
                  <c:v>0.682761547842411</c:v>
                </c:pt>
                <c:pt idx="4">
                  <c:v>0.6599839728890043</c:v>
                </c:pt>
                <c:pt idx="5">
                  <c:v>0.7340150889724192</c:v>
                </c:pt>
                <c:pt idx="6">
                  <c:v>0.6364823413015616</c:v>
                </c:pt>
                <c:pt idx="7">
                  <c:v>0.6686184111869696</c:v>
                </c:pt>
                <c:pt idx="8">
                  <c:v>0.6190387472359821</c:v>
                </c:pt>
                <c:pt idx="9">
                  <c:v>0.6756226591991655</c:v>
                </c:pt>
                <c:pt idx="10">
                  <c:v>0.6636489960280332</c:v>
                </c:pt>
                <c:pt idx="11">
                  <c:v>0.6497670922014448</c:v>
                </c:pt>
                <c:pt idx="12">
                  <c:v>0.6405030076551919</c:v>
                </c:pt>
                <c:pt idx="13">
                  <c:v>0.6142508258873766</c:v>
                </c:pt>
                <c:pt idx="14">
                  <c:v>0.7783243935698093</c:v>
                </c:pt>
                <c:pt idx="15">
                  <c:v>0.6540343891739736</c:v>
                </c:pt>
                <c:pt idx="16">
                  <c:v>0.4788734911928057</c:v>
                </c:pt>
                <c:pt idx="17">
                  <c:v>0.917313073438885</c:v>
                </c:pt>
                <c:pt idx="18">
                  <c:v>0.46188998705821555</c:v>
                </c:pt>
                <c:pt idx="19">
                  <c:v>0.645144132113865</c:v>
                </c:pt>
                <c:pt idx="20">
                  <c:v>0.7205391848697962</c:v>
                </c:pt>
                <c:pt idx="21">
                  <c:v>0.8649230360868387</c:v>
                </c:pt>
                <c:pt idx="22">
                  <c:v>0.6426219131372386</c:v>
                </c:pt>
                <c:pt idx="23">
                  <c:v>0.9602486543974653</c:v>
                </c:pt>
                <c:pt idx="24">
                  <c:v>0.734017995961657</c:v>
                </c:pt>
                <c:pt idx="25">
                  <c:v>0.834212543764575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Arial"/>
              </a:rPr>
              <a:t>RGB + Hillshade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66BB6A"/>
            </a:solidFill>
            <a:ln w="25400" cap="flat">
              <a:solidFill>
                <a:srgbClr val="66BB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6BB6A"/>
              </a:solidFill>
              <a:ln w="9525" cap="flat">
                <a:solidFill>
                  <a:srgbClr val="66BB6A"/>
                </a:solidFill>
                <a:prstDash val="solid"/>
                <a:round/>
              </a:ln>
              <a:effectLst/>
            </c:spPr>
          </c:marker>
          <c:cat>
            <c:strRef>
              <c:f>Sheet1!$A$2:$A$29</c:f>
              <c:strCache>
                <c:ptCount val="2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0.7698671238043704</c:v>
                </c:pt>
                <c:pt idx="1">
                  <c:v>0.6833745073804112</c:v>
                </c:pt>
                <c:pt idx="2">
                  <c:v>0.6493184771089594</c:v>
                </c:pt>
                <c:pt idx="3">
                  <c:v>0.6353986186154325</c:v>
                </c:pt>
                <c:pt idx="4">
                  <c:v>0.6084982565759832</c:v>
                </c:pt>
                <c:pt idx="5">
                  <c:v>0.5835710102819673</c:v>
                </c:pt>
                <c:pt idx="6">
                  <c:v>0.5702433413440879</c:v>
                </c:pt>
                <c:pt idx="7">
                  <c:v>0.5624179231808485</c:v>
                </c:pt>
                <c:pt idx="8">
                  <c:v>0.556961748906362</c:v>
                </c:pt>
                <c:pt idx="9">
                  <c:v>0.5455115362691567</c:v>
                </c:pt>
                <c:pt idx="10">
                  <c:v>0.53648944194653</c:v>
                </c:pt>
                <c:pt idx="11">
                  <c:v>0.5312945966490814</c:v>
                </c:pt>
                <c:pt idx="12">
                  <c:v>0.5235293481159891</c:v>
                </c:pt>
                <c:pt idx="13">
                  <c:v>0.479555700175965</c:v>
                </c:pt>
                <c:pt idx="14">
                  <c:v>0.2882149956498798</c:v>
                </c:pt>
                <c:pt idx="15">
                  <c:v>0.21759968585512562</c:v>
                </c:pt>
                <c:pt idx="16">
                  <c:v>0.1926735968341201</c:v>
                </c:pt>
                <c:pt idx="17">
                  <c:v>0.18302044064800463</c:v>
                </c:pt>
                <c:pt idx="18">
                  <c:v>0.1759034129932239</c:v>
                </c:pt>
                <c:pt idx="19">
                  <c:v>0.1696429017007449</c:v>
                </c:pt>
                <c:pt idx="20">
                  <c:v>0.17426053329649593</c:v>
                </c:pt>
                <c:pt idx="21">
                  <c:v>0.16545036966511956</c:v>
                </c:pt>
                <c:pt idx="22">
                  <c:v>0.14277895272936303</c:v>
                </c:pt>
                <c:pt idx="23">
                  <c:v>0.13862660482456848</c:v>
                </c:pt>
                <c:pt idx="24">
                  <c:v>0.129146654248566</c:v>
                </c:pt>
                <c:pt idx="25">
                  <c:v>0.12404041283855775</c:v>
                </c:pt>
                <c:pt idx="26">
                  <c:v>0.1294507235101289</c:v>
                </c:pt>
                <c:pt idx="27">
                  <c:v>0.12694307415915684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</c:v>
                </c:pt>
              </c:strCache>
            </c:strRef>
          </c:tx>
          <c:spPr>
            <a:solidFill>
              <a:srgbClr val="888888"/>
            </a:solidFill>
            <a:ln w="25400" cap="flat">
              <a:solidFill>
                <a:srgbClr val="8888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88888"/>
              </a:solidFill>
              <a:ln w="9525" cap="flat">
                <a:solidFill>
                  <a:srgbClr val="888888"/>
                </a:solidFill>
                <a:prstDash val="solid"/>
                <a:round/>
              </a:ln>
              <a:effectLst/>
            </c:spPr>
          </c:marker>
          <c:cat>
            <c:strRef>
              <c:f>Sheet1!$A$2:$A$29</c:f>
              <c:strCache>
                <c:ptCount val="2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0.7609095744111322</c:v>
                </c:pt>
                <c:pt idx="1">
                  <c:v>0.6832659858645815</c:v>
                </c:pt>
                <c:pt idx="2">
                  <c:v>0.6849814166926375</c:v>
                </c:pt>
                <c:pt idx="3">
                  <c:v>0.6620209049094807</c:v>
                </c:pt>
                <c:pt idx="4">
                  <c:v>0.6556426493808477</c:v>
                </c:pt>
                <c:pt idx="5">
                  <c:v>0.6774610560349744</c:v>
                </c:pt>
                <c:pt idx="6">
                  <c:v>0.6541085795320646</c:v>
                </c:pt>
                <c:pt idx="7">
                  <c:v>0.6423479660291864</c:v>
                </c:pt>
                <c:pt idx="8">
                  <c:v>0.6227386364431092</c:v>
                </c:pt>
                <c:pt idx="9">
                  <c:v>0.7233509865674106</c:v>
                </c:pt>
                <c:pt idx="10">
                  <c:v>0.6485494456507943</c:v>
                </c:pt>
                <c:pt idx="11">
                  <c:v>0.6533757502382452</c:v>
                </c:pt>
                <c:pt idx="12">
                  <c:v>0.6405634343022047</c:v>
                </c:pt>
                <c:pt idx="13">
                  <c:v>0.599212779971357</c:v>
                </c:pt>
                <c:pt idx="14">
                  <c:v>1.291609896732626</c:v>
                </c:pt>
                <c:pt idx="15">
                  <c:v>0.4980591382548234</c:v>
                </c:pt>
                <c:pt idx="16">
                  <c:v>1.0409070548550812</c:v>
                </c:pt>
                <c:pt idx="17">
                  <c:v>1.3964907768910604</c:v>
                </c:pt>
                <c:pt idx="18">
                  <c:v>0.5722050778011585</c:v>
                </c:pt>
                <c:pt idx="19">
                  <c:v>0.566979760861057</c:v>
                </c:pt>
                <c:pt idx="20">
                  <c:v>1.0291081860607194</c:v>
                </c:pt>
                <c:pt idx="21">
                  <c:v>1.04127157956744</c:v>
                </c:pt>
                <c:pt idx="22">
                  <c:v>0.9083429423472908</c:v>
                </c:pt>
                <c:pt idx="23">
                  <c:v>1.1569247885265654</c:v>
                </c:pt>
                <c:pt idx="24">
                  <c:v>1.1536557988604315</c:v>
                </c:pt>
                <c:pt idx="25">
                  <c:v>0.9476527245781846</c:v>
                </c:pt>
                <c:pt idx="26">
                  <c:v>1.073492283956269</c:v>
                </c:pt>
                <c:pt idx="27">
                  <c:v>0.7963167386106679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Arial"/>
              </a:rPr>
              <a:t>RGB + Slope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FFA726"/>
            </a:solidFill>
            <a:ln w="25400" cap="flat">
              <a:solidFill>
                <a:srgbClr val="FFA7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A726"/>
              </a:solidFill>
              <a:ln w="9525" cap="flat">
                <a:solidFill>
                  <a:srgbClr val="FFA726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0.7455932287358585</c:v>
                </c:pt>
                <c:pt idx="1">
                  <c:v>0.6599940990033</c:v>
                </c:pt>
                <c:pt idx="2">
                  <c:v>0.6274634214258846</c:v>
                </c:pt>
                <c:pt idx="3">
                  <c:v>0.6153720917622295</c:v>
                </c:pt>
                <c:pt idx="4">
                  <c:v>0.6032217238752137</c:v>
                </c:pt>
                <c:pt idx="5">
                  <c:v>0.5762532156255542</c:v>
                </c:pt>
                <c:pt idx="6">
                  <c:v>0.5658331434156553</c:v>
                </c:pt>
                <c:pt idx="7">
                  <c:v>0.5544435120564993</c:v>
                </c:pt>
                <c:pt idx="8">
                  <c:v>0.5463607085914146</c:v>
                </c:pt>
                <c:pt idx="9">
                  <c:v>0.5401093544596933</c:v>
                </c:pt>
                <c:pt idx="10">
                  <c:v>0.5285683743908319</c:v>
                </c:pt>
                <c:pt idx="11">
                  <c:v>0.5173978157549796</c:v>
                </c:pt>
                <c:pt idx="12">
                  <c:v>0.42749255305241435</c:v>
                </c:pt>
                <c:pt idx="13">
                  <c:v>0.3414271529553406</c:v>
                </c:pt>
                <c:pt idx="14">
                  <c:v>0.29669199405921703</c:v>
                </c:pt>
                <c:pt idx="15">
                  <c:v>0.21166352089660675</c:v>
                </c:pt>
                <c:pt idx="16">
                  <c:v>0.1847305812868514</c:v>
                </c:pt>
                <c:pt idx="17">
                  <c:v>0.1766832626426392</c:v>
                </c:pt>
                <c:pt idx="18">
                  <c:v>0.17261353407351823</c:v>
                </c:pt>
                <c:pt idx="19">
                  <c:v>0.15360945192738262</c:v>
                </c:pt>
                <c:pt idx="20">
                  <c:v>0.17036141411990402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</c:v>
                </c:pt>
              </c:strCache>
            </c:strRef>
          </c:tx>
          <c:spPr>
            <a:solidFill>
              <a:srgbClr val="888888"/>
            </a:solidFill>
            <a:ln w="25400" cap="flat">
              <a:solidFill>
                <a:srgbClr val="8888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88888"/>
              </a:solidFill>
              <a:ln w="9525" cap="flat">
                <a:solidFill>
                  <a:srgbClr val="888888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0.6955695228143172</c:v>
                </c:pt>
                <c:pt idx="1">
                  <c:v>0.6578097156804017</c:v>
                </c:pt>
                <c:pt idx="2">
                  <c:v>0.6611928092710899</c:v>
                </c:pt>
                <c:pt idx="3">
                  <c:v>0.6410858780446679</c:v>
                </c:pt>
                <c:pt idx="4">
                  <c:v>0.641723370130616</c:v>
                </c:pt>
                <c:pt idx="5">
                  <c:v>0.6815913969820196</c:v>
                </c:pt>
                <c:pt idx="6">
                  <c:v>0.6276080864848512</c:v>
                </c:pt>
                <c:pt idx="7">
                  <c:v>0.6503788040141867</c:v>
                </c:pt>
                <c:pt idx="8">
                  <c:v>0.6117429849475321</c:v>
                </c:pt>
                <c:pt idx="9">
                  <c:v>0.6233222805490397</c:v>
                </c:pt>
                <c:pt idx="10">
                  <c:v>0.6689406585813773</c:v>
                </c:pt>
                <c:pt idx="11">
                  <c:v>0.5743710392578082</c:v>
                </c:pt>
                <c:pt idx="12">
                  <c:v>0.4328018363546392</c:v>
                </c:pt>
                <c:pt idx="13">
                  <c:v>0.6073791781311026</c:v>
                </c:pt>
                <c:pt idx="14">
                  <c:v>0.4942218600622392</c:v>
                </c:pt>
                <c:pt idx="15">
                  <c:v>0.42994444187804925</c:v>
                </c:pt>
                <c:pt idx="16">
                  <c:v>0.48472943321301665</c:v>
                </c:pt>
                <c:pt idx="17">
                  <c:v>0.5262223783260986</c:v>
                </c:pt>
                <c:pt idx="18">
                  <c:v>0.4628253514315686</c:v>
                </c:pt>
                <c:pt idx="19">
                  <c:v>0.4542454427696125</c:v>
                </c:pt>
                <c:pt idx="20">
                  <c:v>0.4870400851400748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E573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RGB</c:v>
                </c:pt>
                <c:pt idx="1">
                  <c:v>RGB + DTM</c:v>
                </c:pt>
                <c:pt idx="2">
                  <c:v>RGB + Hillshade</c:v>
                </c:pt>
                <c:pt idx="3">
                  <c:v>RGB + Slope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0.44</c:v>
                </c:pt>
                <c:pt idx="1">
                  <c:v>0.593</c:v>
                </c:pt>
                <c:pt idx="2">
                  <c:v>0.42</c:v>
                </c:pt>
                <c:pt idx="3">
                  <c:v>0.439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42A5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RGB</c:v>
                </c:pt>
                <c:pt idx="1">
                  <c:v>RGB + DTM</c:v>
                </c:pt>
                <c:pt idx="2">
                  <c:v>RGB + Hillshade</c:v>
                </c:pt>
                <c:pt idx="3">
                  <c:v>RGB + Slope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0.949</c:v>
                </c:pt>
                <c:pt idx="1">
                  <c:v>0.825</c:v>
                </c:pt>
                <c:pt idx="2">
                  <c:v>0.932</c:v>
                </c:pt>
                <c:pt idx="3">
                  <c:v>0.911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66BB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RGB</c:v>
                </c:pt>
                <c:pt idx="1">
                  <c:v>RGB + DTM</c:v>
                </c:pt>
                <c:pt idx="2">
                  <c:v>RGB + Hillshade</c:v>
                </c:pt>
                <c:pt idx="3">
                  <c:v>RGB + Slope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0.599</c:v>
                </c:pt>
                <c:pt idx="1">
                  <c:v>0.69</c:v>
                </c:pt>
                <c:pt idx="2">
                  <c:v>0.577</c:v>
                </c:pt>
                <c:pt idx="3">
                  <c:v>0.589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766488" cy="256032"/>
          </a:xfrm>
          <a:prstGeom prst="rect">
            <a:avLst/>
          </a:prstGeom>
          <a:solidFill>
            <a:srgbClr val="3A7C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" y="347472"/>
            <a:ext cx="713232" cy="1463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" y="557784"/>
            <a:ext cx="713232" cy="1463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768096"/>
            <a:ext cx="713232" cy="1463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18488" y="34747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Universität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Münster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9867840" y="34747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3A7C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ifgi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7947600" y="75895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 für Geoinformatik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184648" y="292608"/>
            <a:ext cx="323971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U-Net Segmentation of Landslides from Drone LiDAR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795528" y="1755648"/>
            <a:ext cx="41175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Nimesh Akalanka  ·  Vijay Kolanchinathan  ·  Md Rafsan Jani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795528" y="2212848"/>
            <a:ext cx="41175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 für Geoinformatik (ifgi), University of Münster  ·  Analysis of High Resolution Remote Sensing Imagery, SoSe 2026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95528" y="2587752"/>
            <a:ext cx="41175432" cy="18288"/>
          </a:xfrm>
          <a:prstGeom prst="rect">
            <a:avLst/>
          </a:prstGeom>
          <a:solidFill>
            <a:srgbClr val="3A7C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2724912"/>
            <a:ext cx="13554456" cy="658368"/>
          </a:xfrm>
          <a:prstGeom prst="roundRect">
            <a:avLst>
              <a:gd name="adj" fmla="val 9722"/>
            </a:avLst>
          </a:prstGeom>
          <a:solidFill>
            <a:srgbClr val="3A7C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724912"/>
            <a:ext cx="13554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795528" y="3547872"/>
            <a:ext cx="13554456" cy="3383280"/>
          </a:xfrm>
          <a:prstGeom prst="roundRect">
            <a:avLst>
              <a:gd name="adj" fmla="val 1622"/>
            </a:avLst>
          </a:prstGeom>
          <a:solidFill>
            <a:srgbClr val="EDF7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694176"/>
            <a:ext cx="1322527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Landslides cause 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casualties and infrastructure damage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Sri Lanka's central highlands. Post-event mapping is critical for emergency response and risk reduction, yet conventional visual interpretation of drone data is time-consuming and operator-dependent, especially when multiple simultaneous events occur after a single rainfall episode.
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segmentation offers a path toward semi-automated mapping. Its performance depends critically on which input channels are available. This study asks:
</a:t>
            </a:r>
            <a:pPr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"Does fusing LiDAR-derived terrain features with RGB imagery improve U-Net landslide segmentation compared to spectral data alone?"</a:t>
            </a:r>
            <a:endParaRPr lang="en-US" sz="1900" dirty="0"/>
          </a:p>
        </p:txBody>
      </p:sp>
      <p:pic>
        <p:nvPicPr>
          <p:cNvPr id="17" name="Image 0" descr="/tmp/drone_si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7178040"/>
            <a:ext cx="13554456" cy="1104688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95528" y="18261498"/>
            <a:ext cx="13554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1: Drone orthomosaic of a Sri Lanka landslide site (site 01, Alawathugoda) showing exposed soil deposit, road disruption, and surrounding vegetation.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95528" y="18663834"/>
            <a:ext cx="13554456" cy="658368"/>
          </a:xfrm>
          <a:prstGeom prst="roundRect">
            <a:avLst>
              <a:gd name="adj" fmla="val 9722"/>
            </a:avLst>
          </a:prstGeom>
          <a:solidFill>
            <a:srgbClr val="3A7C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5528" y="18663834"/>
            <a:ext cx="13554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Area &amp; Dataset</a:t>
            </a:r>
            <a:endParaRPr lang="en-US" sz="2800" dirty="0"/>
          </a:p>
        </p:txBody>
      </p:sp>
      <p:sp>
        <p:nvSpPr>
          <p:cNvPr id="21" name="Shape 18"/>
          <p:cNvSpPr/>
          <p:nvPr/>
        </p:nvSpPr>
        <p:spPr>
          <a:xfrm>
            <a:off x="795528" y="19486794"/>
            <a:ext cx="13554456" cy="8310966"/>
          </a:xfrm>
          <a:prstGeom prst="roundRect">
            <a:avLst>
              <a:gd name="adj" fmla="val 660"/>
            </a:avLst>
          </a:prstGeom>
          <a:solidFill>
            <a:srgbClr val="EDF7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" y="19633098"/>
            <a:ext cx="13225272" cy="80183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post-landslide drone survey sites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Sri Lanka's central highlands:
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Alawathugoda  ·  Aranayaka (×2)  ·  Hunnasgiriya  ·  Kohowala  ·  Kotmale
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Kovil Ela  ·  Kundasale  ·  Makehelwala  ·  Kansalagamuwa  ·  Uthuwan Kanda  ·  Victoria Reservoir
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data per site:
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point cloud ground-classified to DTM at 0.1 m grid; RGB orthomosaic at &lt;5 cm GSD;
derived layers: Hillshade (azimuth 315°, elevation 45°) and Slope (first-order gradient).
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reference system: 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EPSG:5235 (Sri Lanka Datum 1999)
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/ test split: 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01 to 10 = training     Sites 11 and 12 = held-out test
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Tiling and class balance:
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× 256 px tiles with stride-based sampling. Sites 1,3,5,6,8,9 fully tiled; sites 2,4,7,10 partially tiled. Landslide pixels account for approximately 2% of each scene — severe class imbalance.
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Labelling:
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masks (landslide / background) manually delineated per site from orthomosaic and DSM visual inspection.</a:t>
            </a:r>
            <a:endParaRPr lang="en-US" sz="1900" dirty="0"/>
          </a:p>
        </p:txBody>
      </p:sp>
      <p:sp>
        <p:nvSpPr>
          <p:cNvPr id="23" name="Shape 20"/>
          <p:cNvSpPr/>
          <p:nvPr/>
        </p:nvSpPr>
        <p:spPr>
          <a:xfrm>
            <a:off x="14606016" y="2724912"/>
            <a:ext cx="13554456" cy="658368"/>
          </a:xfrm>
          <a:prstGeom prst="roundRect">
            <a:avLst>
              <a:gd name="adj" fmla="val 9722"/>
            </a:avLst>
          </a:prstGeom>
          <a:solidFill>
            <a:srgbClr val="3A7C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606016" y="2724912"/>
            <a:ext cx="13554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14606016" y="3602736"/>
            <a:ext cx="13554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 and Segmentation Pipeline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7213580" y="4956048"/>
            <a:ext cx="1645920" cy="658368"/>
          </a:xfrm>
          <a:prstGeom prst="roundRect">
            <a:avLst>
              <a:gd name="adj" fmla="val 9722"/>
            </a:avLst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7213580" y="495604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Cloud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8877788" y="5157216"/>
            <a:ext cx="182880" cy="256032"/>
          </a:xfrm>
          <a:prstGeom prst="rightArrow">
            <a:avLst/>
          </a:prstGeom>
          <a:solidFill>
            <a:srgbClr val="888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9005804" y="4956048"/>
            <a:ext cx="1645920" cy="658368"/>
          </a:xfrm>
          <a:prstGeom prst="roundRect">
            <a:avLst>
              <a:gd name="adj" fmla="val 9722"/>
            </a:avLst>
          </a:prstGeom>
          <a:solidFill>
            <a:srgbClr val="0083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9005804" y="495604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 m grid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20670012" y="5157216"/>
            <a:ext cx="182880" cy="256032"/>
          </a:xfrm>
          <a:prstGeom prst="rightArrow">
            <a:avLst/>
          </a:prstGeom>
          <a:solidFill>
            <a:srgbClr val="888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0798028" y="4956048"/>
            <a:ext cx="1645920" cy="658368"/>
          </a:xfrm>
          <a:prstGeom prst="roundRect">
            <a:avLst>
              <a:gd name="adj" fmla="val 9722"/>
            </a:avLst>
          </a:prstGeom>
          <a:solidFill>
            <a:srgbClr val="388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0798028" y="495604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Stack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– 4 ch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22462236" y="5157216"/>
            <a:ext cx="182880" cy="256032"/>
          </a:xfrm>
          <a:prstGeom prst="rightArrow">
            <a:avLst/>
          </a:prstGeom>
          <a:solidFill>
            <a:srgbClr val="888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2590252" y="4956048"/>
            <a:ext cx="1645920" cy="658368"/>
          </a:xfrm>
          <a:prstGeom prst="roundRect">
            <a:avLst>
              <a:gd name="adj" fmla="val 9722"/>
            </a:avLst>
          </a:prstGeom>
          <a:solidFill>
            <a:srgbClr val="388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2590252" y="495604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U-Net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256×256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24254460" y="5157216"/>
            <a:ext cx="182880" cy="256032"/>
          </a:xfrm>
          <a:prstGeom prst="rightArrow">
            <a:avLst/>
          </a:prstGeom>
          <a:solidFill>
            <a:srgbClr val="888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4382476" y="4956048"/>
            <a:ext cx="1645920" cy="658368"/>
          </a:xfrm>
          <a:prstGeom prst="roundRect">
            <a:avLst>
              <a:gd name="adj" fmla="val 9722"/>
            </a:avLst>
          </a:prstGeom>
          <a:solidFill>
            <a:srgbClr val="1B5E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4382476" y="495604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Landslide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20505420" y="4462272"/>
            <a:ext cx="2231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7C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Orthomosaic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21566124" y="4736592"/>
            <a:ext cx="109728" cy="237744"/>
          </a:xfrm>
          <a:prstGeom prst="rightArrow">
            <a:avLst/>
          </a:prstGeom>
          <a:solidFill>
            <a:srgbClr val="5DA0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4606016" y="7187184"/>
            <a:ext cx="13554456" cy="457200"/>
          </a:xfrm>
          <a:prstGeom prst="roundRect">
            <a:avLst>
              <a:gd name="adj" fmla="val 10000"/>
            </a:avLst>
          </a:prstGeom>
          <a:solidFill>
            <a:srgbClr val="5DA0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4606016" y="7187184"/>
            <a:ext cx="13554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Configurations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14715744" y="8156448"/>
            <a:ext cx="256032" cy="256032"/>
          </a:xfrm>
          <a:prstGeom prst="ellipse">
            <a:avLst/>
          </a:prstGeom>
          <a:solidFill>
            <a:srgbClr val="E573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5081504" y="7891272"/>
            <a:ext cx="12969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channels: red, green, blue from orthomosaic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14715744" y="9107424"/>
            <a:ext cx="256032" cy="256032"/>
          </a:xfrm>
          <a:prstGeom prst="ellipse">
            <a:avLst/>
          </a:prstGeom>
          <a:solidFill>
            <a:srgbClr val="42A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5081504" y="8842248"/>
            <a:ext cx="12969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+ DTM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channels: + digital terrain model at 0.1 m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14715744" y="10058400"/>
            <a:ext cx="256032" cy="256032"/>
          </a:xfrm>
          <a:prstGeom prst="ellipse">
            <a:avLst/>
          </a:prstGeom>
          <a:solidFill>
            <a:srgbClr val="66BB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5081504" y="9793224"/>
            <a:ext cx="12969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+ Hillshade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channels: + terrain illumination (independent variant)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14715744" y="11009376"/>
            <a:ext cx="256032" cy="256032"/>
          </a:xfrm>
          <a:prstGeom prst="ellipse">
            <a:avLst/>
          </a:prstGeom>
          <a:solidFill>
            <a:srgbClr val="FF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5081504" y="10744200"/>
            <a:ext cx="12969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+ Slope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channels: + slope gradient (independent variant)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14606016" y="11793931"/>
            <a:ext cx="13554456" cy="457200"/>
          </a:xfrm>
          <a:prstGeom prst="roundRect">
            <a:avLst>
              <a:gd name="adj" fmla="val 10000"/>
            </a:avLst>
          </a:prstGeom>
          <a:solidFill>
            <a:srgbClr val="5DA0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4606016" y="11793931"/>
            <a:ext cx="13554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U-Net Architecture and Training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14606016" y="12415723"/>
            <a:ext cx="13554456" cy="6762902"/>
          </a:xfrm>
          <a:prstGeom prst="roundRect">
            <a:avLst>
              <a:gd name="adj" fmla="val 811"/>
            </a:avLst>
          </a:prstGeom>
          <a:solidFill>
            <a:srgbClr val="EDF7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4770608" y="12562027"/>
            <a:ext cx="13225272" cy="64702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
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Encoder–decoder (U-Net) with 4 downsampling stages and skip connections that preserve spatial detail.
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Encoder: 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3×3 conv → BatchNorm → ReLU → 2×2 max-pool; feature channels: 64 → 128 → 256 → 512.
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Bottleneck: 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1024-channel deepest representation before decoding.
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Decoder: 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Bilinear upsampling ×2 at each stage, concatenated with encoder skip features.
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1×1 conv → sigmoid → binary landslide probability map at full input resolution.
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hyperparameters:
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Optimiser: Adam  |  Learning rate: 1 × 10⁻⁴  |  Batch size: 8  |  Epochs: 25
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Loss: binary cross-entropy with pos_weight (set to 0.2 — see Discussion)
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 size: 256 × 256 px, stride-based sampling  |  Prediction stride: 768 px
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 threshold: 0.5 (default, not optimised)
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Terrain feature derivation:
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DTM: ground-classified LiDAR rasterised to 0.1 m grid.
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Hillshade: sun azimuth 315°, elevation 45° (single illumination angle).
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Slope: first-order gradient magnitude from DTM (degrees).
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
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Pixel-level Precision, Recall, and F1-Score on full held-out scenes.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is reported but excluded from model selection due to class imbalance.</a:t>
            </a:r>
            <a:endParaRPr lang="en-US" sz="1900" dirty="0"/>
          </a:p>
        </p:txBody>
      </p:sp>
      <p:sp>
        <p:nvSpPr>
          <p:cNvPr id="56" name="Shape 53"/>
          <p:cNvSpPr/>
          <p:nvPr/>
        </p:nvSpPr>
        <p:spPr>
          <a:xfrm>
            <a:off x="14606016" y="19376136"/>
            <a:ext cx="13554456" cy="457200"/>
          </a:xfrm>
          <a:prstGeom prst="roundRect">
            <a:avLst>
              <a:gd name="adj" fmla="val 10000"/>
            </a:avLst>
          </a:prstGeom>
          <a:solidFill>
            <a:srgbClr val="5DA0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4606016" y="19376136"/>
            <a:ext cx="13554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and Validation Loss (early stopping, 21–28 epochs)</a:t>
            </a:r>
            <a:endParaRPr lang="en-US" sz="1600" dirty="0"/>
          </a:p>
        </p:txBody>
      </p:sp>
      <p:graphicFrame>
        <p:nvGraphicFramePr>
          <p:cNvPr id="58" name="Chart 0" descr=""/>
          <p:cNvGraphicFramePr/>
          <p:nvPr/>
        </p:nvGraphicFramePr>
        <p:xfrm>
          <a:off x="14606016" y="19997928"/>
          <a:ext cx="6731508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9" name="Chart 1" descr=""/>
          <p:cNvGraphicFramePr/>
          <p:nvPr/>
        </p:nvGraphicFramePr>
        <p:xfrm>
          <a:off x="21428964" y="19997928"/>
          <a:ext cx="6731508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0" name="Chart 2" descr=""/>
          <p:cNvGraphicFramePr/>
          <p:nvPr/>
        </p:nvGraphicFramePr>
        <p:xfrm>
          <a:off x="14606016" y="24021288"/>
          <a:ext cx="6731508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61" name="Chart 3" descr=""/>
          <p:cNvGraphicFramePr/>
          <p:nvPr/>
        </p:nvGraphicFramePr>
        <p:xfrm>
          <a:off x="21428964" y="24021288"/>
          <a:ext cx="6731508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62" name="Shape 55"/>
          <p:cNvSpPr/>
          <p:nvPr/>
        </p:nvSpPr>
        <p:spPr>
          <a:xfrm>
            <a:off x="28416504" y="2724912"/>
            <a:ext cx="13554456" cy="658368"/>
          </a:xfrm>
          <a:prstGeom prst="roundRect">
            <a:avLst>
              <a:gd name="adj" fmla="val 9722"/>
            </a:avLst>
          </a:prstGeom>
          <a:solidFill>
            <a:srgbClr val="3A7C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56"/>
          <p:cNvSpPr/>
          <p:nvPr/>
        </p:nvSpPr>
        <p:spPr>
          <a:xfrm>
            <a:off x="28416504" y="2724912"/>
            <a:ext cx="13554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416504" y="3547872"/>
          <a:ext cx="13554456" cy="914400"/>
        </p:xfrm>
        <a:graphic>
          <a:graphicData uri="http://schemas.openxmlformats.org/drawingml/2006/table">
            <a:tbl>
              <a:tblPr/>
              <a:tblGrid>
                <a:gridCol w="5421782"/>
                <a:gridCol w="1626535"/>
                <a:gridCol w="1762079"/>
                <a:gridCol w="2168713"/>
                <a:gridCol w="2575347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C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C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C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C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C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 b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RGB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 b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 b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0.440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 b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 b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 b="1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RGB + DTM ★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 b="1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 b="1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 b="1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 b="1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 b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Site 11 (Uthuwan Kanda)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 b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 b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 b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 b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Site 12 (Victoria Reservoir)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0.522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 b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RGB + Hillshade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 b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 b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 b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 b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0.577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 b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RGB + Slope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 b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 b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0.439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 b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 b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0.589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5" name="Text 57"/>
          <p:cNvSpPr/>
          <p:nvPr/>
        </p:nvSpPr>
        <p:spPr>
          <a:xfrm>
            <a:off x="28416504" y="6784848"/>
            <a:ext cx="13554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1: Overall metrics on held-out sites 11 and 12. ★ = best-performing configuration (highest F1).</a:t>
            </a:r>
            <a:endParaRPr lang="en-US" sz="1300" dirty="0"/>
          </a:p>
        </p:txBody>
      </p:sp>
      <p:sp>
        <p:nvSpPr>
          <p:cNvPr id="66" name="Shape 58"/>
          <p:cNvSpPr/>
          <p:nvPr/>
        </p:nvSpPr>
        <p:spPr>
          <a:xfrm>
            <a:off x="28416504" y="7333488"/>
            <a:ext cx="13554456" cy="457200"/>
          </a:xfrm>
          <a:prstGeom prst="roundRect">
            <a:avLst>
              <a:gd name="adj" fmla="val 10000"/>
            </a:avLst>
          </a:prstGeom>
          <a:solidFill>
            <a:srgbClr val="5DA0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59"/>
          <p:cNvSpPr/>
          <p:nvPr/>
        </p:nvSpPr>
        <p:spPr>
          <a:xfrm>
            <a:off x="28416504" y="7333488"/>
            <a:ext cx="13554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Comparison</a:t>
            </a:r>
            <a:endParaRPr lang="en-US" sz="1600" dirty="0"/>
          </a:p>
        </p:txBody>
      </p:sp>
      <p:graphicFrame>
        <p:nvGraphicFramePr>
          <p:cNvPr id="68" name="Chart 4" descr=""/>
          <p:cNvGraphicFramePr/>
          <p:nvPr/>
        </p:nvGraphicFramePr>
        <p:xfrm>
          <a:off x="28416504" y="7955280"/>
          <a:ext cx="13554456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69" name="Text 60"/>
          <p:cNvSpPr/>
          <p:nvPr/>
        </p:nvSpPr>
        <p:spPr>
          <a:xfrm>
            <a:off x="28416504" y="12563856"/>
            <a:ext cx="13554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2: RGB + DTM achieves the best F1 (0.690); hillshade underperforms the RGB-only baseline despite deriving from the same DTM.</a:t>
            </a:r>
            <a:endParaRPr lang="en-US" sz="1300" dirty="0"/>
          </a:p>
        </p:txBody>
      </p:sp>
      <p:sp>
        <p:nvSpPr>
          <p:cNvPr id="70" name="Shape 61"/>
          <p:cNvSpPr/>
          <p:nvPr/>
        </p:nvSpPr>
        <p:spPr>
          <a:xfrm>
            <a:off x="28416504" y="13112496"/>
            <a:ext cx="13554456" cy="658368"/>
          </a:xfrm>
          <a:prstGeom prst="roundRect">
            <a:avLst>
              <a:gd name="adj" fmla="val 9722"/>
            </a:avLst>
          </a:prstGeom>
          <a:solidFill>
            <a:srgbClr val="3A7C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2"/>
          <p:cNvSpPr/>
          <p:nvPr/>
        </p:nvSpPr>
        <p:spPr>
          <a:xfrm>
            <a:off x="28416504" y="13112496"/>
            <a:ext cx="13554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2800" dirty="0"/>
          </a:p>
        </p:txBody>
      </p:sp>
      <p:sp>
        <p:nvSpPr>
          <p:cNvPr id="72" name="Shape 63"/>
          <p:cNvSpPr/>
          <p:nvPr/>
        </p:nvSpPr>
        <p:spPr>
          <a:xfrm>
            <a:off x="28416504" y="13935456"/>
            <a:ext cx="13554456" cy="5669280"/>
          </a:xfrm>
          <a:prstGeom prst="roundRect">
            <a:avLst>
              <a:gd name="adj" fmla="val 968"/>
            </a:avLst>
          </a:prstGeom>
          <a:solidFill>
            <a:srgbClr val="EDF7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3" name="Text 64"/>
          <p:cNvSpPr/>
          <p:nvPr/>
        </p:nvSpPr>
        <p:spPr>
          <a:xfrm>
            <a:off x="28581096" y="14081760"/>
            <a:ext cx="13225272" cy="5376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configurations now produce functional detectors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recall ranges 0.825–0.949 and F1 ranges 0.577–0.690 across every variant, with none collapsing to background-only as in an earlier run with an inverted pos_weight. Recall is deliberately weighted above precision, favoring catching real landslides over avoiding false alarms.
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elevation gives the clearest gain: 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+ DTM has the best F1 (0.690) and precision (0.593), improving on the RGB-only baseline (F1 0.599) mainly by reducing false positives — though performance still varies by site (F1 0.768 on Site 11 vs 0.612 on Site 12).
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Hillshade and slope underperform DTM: 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despite deriving from the same elevation model, hillshade actually falls below the RGB-only baseline (F1 0.577), suggesting raw elevation carries more usable signal for the network than either derived product.
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is uninformative here: </a:t>
            </a:r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models score 97.0–98.5% accuracy since landslide pixels are a small minority class; F1 and Recall remain the decisive metrics.</a:t>
            </a:r>
            <a:endParaRPr lang="en-US" sz="1900" dirty="0"/>
          </a:p>
        </p:txBody>
      </p:sp>
      <p:sp>
        <p:nvSpPr>
          <p:cNvPr id="74" name="Shape 65"/>
          <p:cNvSpPr/>
          <p:nvPr/>
        </p:nvSpPr>
        <p:spPr>
          <a:xfrm>
            <a:off x="28416504" y="19851624"/>
            <a:ext cx="13554456" cy="457200"/>
          </a:xfrm>
          <a:prstGeom prst="roundRect">
            <a:avLst>
              <a:gd name="adj" fmla="val 10000"/>
            </a:avLst>
          </a:prstGeom>
          <a:solidFill>
            <a:srgbClr val="5DA0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Text 66"/>
          <p:cNvSpPr/>
          <p:nvPr/>
        </p:nvSpPr>
        <p:spPr>
          <a:xfrm>
            <a:off x="28416504" y="19851624"/>
            <a:ext cx="13554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 and Next Steps</a:t>
            </a:r>
            <a:endParaRPr lang="en-US" sz="1600" dirty="0"/>
          </a:p>
        </p:txBody>
      </p:sp>
      <p:sp>
        <p:nvSpPr>
          <p:cNvPr id="76" name="Shape 67"/>
          <p:cNvSpPr/>
          <p:nvPr/>
        </p:nvSpPr>
        <p:spPr>
          <a:xfrm>
            <a:off x="28416504" y="20473416"/>
            <a:ext cx="13554456" cy="7488936"/>
          </a:xfrm>
          <a:prstGeom prst="roundRect">
            <a:avLst>
              <a:gd name="adj" fmla="val 733"/>
            </a:avLst>
          </a:prstGeom>
          <a:solidFill>
            <a:srgbClr val="EDF7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7" name="Text 68"/>
          <p:cNvSpPr/>
          <p:nvPr/>
        </p:nvSpPr>
        <p:spPr>
          <a:xfrm>
            <a:off x="28581096" y="20619720"/>
            <a:ext cx="13225272" cy="7196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the sigmoid threshold to trade recall for precision, especially for RGB + DTM
</a:t>
            </a:r>
            <a:pPr indent="0" marL="0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feature fusion (e.g. RGB + DTM + Slope) now that single features are validated independently
</a:t>
            </a:r>
            <a:pPr indent="0" marL="0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why hillshade underperforms slope and DTM despite deriving from the same elevation model
</a:t>
            </a:r>
            <a:pPr indent="0" marL="0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Site-stratified cross-validation to reduce site-to-site F1 variance (0.768 vs 0.612 on RGB + DTM)
</a:t>
            </a:r>
            <a:pPr indent="0" marL="0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Revisit foundation-model backbones (DOFA, SkySense) now that a reliable ResNet50 U-Net baseline exists
</a:t>
            </a:r>
            <a:pPr indent="0" marL="0">
              <a:lnSpc>
                <a:spcPct val="150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full-site inference to additional held-out sites as more annotated data becomes available</a:t>
            </a:r>
            <a:endParaRPr lang="en-US" sz="1900" dirty="0"/>
          </a:p>
        </p:txBody>
      </p:sp>
      <p:sp>
        <p:nvSpPr>
          <p:cNvPr id="78" name="Shape 69"/>
          <p:cNvSpPr/>
          <p:nvPr/>
        </p:nvSpPr>
        <p:spPr>
          <a:xfrm>
            <a:off x="795528" y="28035504"/>
            <a:ext cx="41175432" cy="18288"/>
          </a:xfrm>
          <a:prstGeom prst="rect">
            <a:avLst/>
          </a:prstGeom>
          <a:solidFill>
            <a:srgbClr val="3A7C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0"/>
          <p:cNvSpPr/>
          <p:nvPr/>
        </p:nvSpPr>
        <p:spPr>
          <a:xfrm>
            <a:off x="795528" y="28117800"/>
            <a:ext cx="30058065" cy="420624"/>
          </a:xfrm>
          <a:prstGeom prst="roundRect">
            <a:avLst>
              <a:gd name="adj" fmla="val 10870"/>
            </a:avLst>
          </a:prstGeom>
          <a:solidFill>
            <a:srgbClr val="5DA0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Text 71"/>
          <p:cNvSpPr/>
          <p:nvPr/>
        </p:nvSpPr>
        <p:spPr>
          <a:xfrm>
            <a:off x="795528" y="28117800"/>
            <a:ext cx="3005806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81" name="Text 72"/>
          <p:cNvSpPr/>
          <p:nvPr/>
        </p:nvSpPr>
        <p:spPr>
          <a:xfrm>
            <a:off x="886968" y="28611576"/>
            <a:ext cx="29875185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Ronneberger et al. (2015). U-Net: CNNs for Biomedical Image Segmentation. MICCAI.</a:t>
            </a:r>
            <a:endParaRPr lang="en-US" sz="14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Ghorbanzadeh et al. (2021). Evaluation of ML Methods for Landslide Detection. Remote Sensing, 11(2).</a:t>
            </a:r>
            <a:endParaRPr lang="en-US" sz="14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Prakash et al. (2020). CNN-Based Approach for Spectral-Spatial Image Classification. Remote Sensing, 12(6).</a:t>
            </a:r>
            <a:endParaRPr lang="en-US" sz="14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Chen et al. (2018). DeepLab: Semantic Segmentation with Deep Convolutional Nets. IEEE TPAMI, 40(4).</a:t>
            </a:r>
            <a:endParaRPr lang="en-US" sz="1400" dirty="0"/>
          </a:p>
        </p:txBody>
      </p:sp>
      <p:sp>
        <p:nvSpPr>
          <p:cNvPr id="82" name="Shape 73"/>
          <p:cNvSpPr/>
          <p:nvPr/>
        </p:nvSpPr>
        <p:spPr>
          <a:xfrm>
            <a:off x="31018185" y="28117800"/>
            <a:ext cx="10952775" cy="1920240"/>
          </a:xfrm>
          <a:prstGeom prst="roundRect">
            <a:avLst>
              <a:gd name="adj" fmla="val 2857"/>
            </a:avLst>
          </a:prstGeom>
          <a:solidFill>
            <a:srgbClr val="EDF7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3" name="Text 74"/>
          <p:cNvSpPr/>
          <p:nvPr/>
        </p:nvSpPr>
        <p:spPr>
          <a:xfrm>
            <a:off x="31127913" y="28318968"/>
            <a:ext cx="1073331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7C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Repository</a:t>
            </a:r>
            <a:endParaRPr lang="en-US" sz="1600" dirty="0"/>
          </a:p>
        </p:txBody>
      </p:sp>
      <p:sp>
        <p:nvSpPr>
          <p:cNvPr id="84" name="Text 75"/>
          <p:cNvSpPr/>
          <p:nvPr/>
        </p:nvSpPr>
        <p:spPr>
          <a:xfrm>
            <a:off x="31127913" y="28794456"/>
            <a:ext cx="1073331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code publicly available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github.com/nimesh7814/landslide_extraction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2026-07-22T22:47:31Z</dcterms:created>
  <dcterms:modified xsi:type="dcterms:W3CDTF">2026-07-22T22:47:31Z</dcterms:modified>
</cp:coreProperties>
</file>